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4"/>
    <p:sldId id="268" r:id="rId17"/>
    <p:sldId id="275" r:id="rId24"/>
    <p:sldId id="269" r:id="rId18"/>
    <p:sldId id="276" r:id="rId25"/>
    <p:sldId id="270" r:id="rId19"/>
    <p:sldId id="271" r:id="rId20"/>
    <p:sldId id="272" r:id="rId21"/>
    <p:sldId id="277" r:id="rId26"/>
    <p:sldId id="273" r:id="rId22"/>
    <p:sldId id="274" r:id="rId23"/>
    <p:sldId id="278" r:id="rId12"/>
    <p:sldId id="279" r:id="rId11"/>
    <p:sldId id="28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1396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10" Type="http://schemas.openxmlformats.org/officeDocument/2006/relationships/slide" Target="slides/slide15.xml"/><Relationship Id="rId11" Type="http://schemas.openxmlformats.org/officeDocument/2006/relationships/slide" Target="slides/slide14.xml"/><Relationship Id="rId12" Type="http://schemas.openxmlformats.org/officeDocument/2006/relationships/slide" Target="slides/slide13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3.xml"/><Relationship Id="rId18" Type="http://schemas.openxmlformats.org/officeDocument/2006/relationships/slide" Target="slides/slide5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4.xml"/><Relationship Id="rId25" Type="http://schemas.openxmlformats.org/officeDocument/2006/relationships/slide" Target="slides/slide6.xml"/><Relationship Id="rId2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image" Target="../media/er_diagram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image" Target="../media/dfd_diagram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image" Target="../media/arch_diagram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grpSp>
        <p:nvGrpSpPr>
          <p:cNvPr id="16" name="object 3">
            <a:extLst>
              <a:ext uri="{FF2B5EF4-FFF2-40B4-BE49-F238E27FC236}">
                <a16:creationId xmlns:a16="http://schemas.microsoft.com/office/drawing/2014/main" id="{8AAE92C6-B286-BA7C-D7CA-E8EFD6EE8ECF}"/>
              </a:ext>
            </a:extLst>
          </p:cNvPr>
          <p:cNvGrpSpPr/>
          <p:nvPr/>
        </p:nvGrpSpPr>
        <p:grpSpPr>
          <a:xfrm>
            <a:off x="0" y="-16955"/>
            <a:ext cx="12192000" cy="939165"/>
            <a:chOff x="63738" y="50"/>
            <a:chExt cx="9017000" cy="939165"/>
          </a:xfrm>
        </p:grpSpPr>
        <p:pic>
          <p:nvPicPr>
            <p:cNvPr id="17" name="object 4">
              <a:extLst>
                <a:ext uri="{FF2B5EF4-FFF2-40B4-BE49-F238E27FC236}">
                  <a16:creationId xmlns:a16="http://schemas.microsoft.com/office/drawing/2014/main" id="{40A948C9-6201-7E2D-60B2-C9508BA151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2485" y="115595"/>
              <a:ext cx="1127759" cy="791946"/>
            </a:xfrm>
            <a:prstGeom prst="rect">
              <a:avLst/>
            </a:prstGeom>
          </p:spPr>
        </p:pic>
        <p:pic>
          <p:nvPicPr>
            <p:cNvPr id="18" name="object 5">
              <a:extLst>
                <a:ext uri="{FF2B5EF4-FFF2-40B4-BE49-F238E27FC236}">
                  <a16:creationId xmlns:a16="http://schemas.microsoft.com/office/drawing/2014/main" id="{8C68408B-120B-F234-2924-DCE32ECECD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38" y="50"/>
              <a:ext cx="872490" cy="938606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23C3BE0-81ED-C03A-B237-CE405FBAC33E}"/>
              </a:ext>
            </a:extLst>
          </p:cNvPr>
          <p:cNvGrpSpPr/>
          <p:nvPr/>
        </p:nvGrpSpPr>
        <p:grpSpPr>
          <a:xfrm>
            <a:off x="0" y="-45807"/>
            <a:ext cx="12192000" cy="997882"/>
            <a:chOff x="-19686" y="-9179"/>
            <a:chExt cx="9163685" cy="99788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871553A-1AD2-2A08-ECAF-5BA530C0691E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53" name="object 3">
                <a:extLst>
                  <a:ext uri="{FF2B5EF4-FFF2-40B4-BE49-F238E27FC236}">
                    <a16:creationId xmlns:a16="http://schemas.microsoft.com/office/drawing/2014/main" id="{9F530634-2B7C-6F72-E673-440CC5A70C2F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54" name="object 7">
                <a:extLst>
                  <a:ext uri="{FF2B5EF4-FFF2-40B4-BE49-F238E27FC236}">
                    <a16:creationId xmlns:a16="http://schemas.microsoft.com/office/drawing/2014/main" id="{A2E60B1B-9EF1-878F-B699-FF01E51E9571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55" name="object 8">
                  <a:extLst>
                    <a:ext uri="{FF2B5EF4-FFF2-40B4-BE49-F238E27FC236}">
                      <a16:creationId xmlns:a16="http://schemas.microsoft.com/office/drawing/2014/main" id="{4A8FE1D6-C0DC-987B-3B2B-03C4201CC696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56" name="object 9">
                  <a:extLst>
                    <a:ext uri="{FF2B5EF4-FFF2-40B4-BE49-F238E27FC236}">
                      <a16:creationId xmlns:a16="http://schemas.microsoft.com/office/drawing/2014/main" id="{E77951EC-95A4-6201-858C-67A031BCFA6A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FA88732-DA87-6791-2A8A-59C622802C2C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48BD773D-A9FB-A338-5560-3747FE038DED}"/>
              </a:ext>
            </a:extLst>
          </p:cNvPr>
          <p:cNvSpPr/>
          <p:nvPr/>
        </p:nvSpPr>
        <p:spPr>
          <a:xfrm>
            <a:off x="192023" y="1090130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ounded Rectangle 11">
            <a:extLst>
              <a:ext uri="{FF2B5EF4-FFF2-40B4-BE49-F238E27FC236}">
                <a16:creationId xmlns:a16="http://schemas.microsoft.com/office/drawing/2014/main" id="{85C718D2-863F-63FC-5D37-559D10620A1F}"/>
              </a:ext>
            </a:extLst>
          </p:cNvPr>
          <p:cNvSpPr/>
          <p:nvPr/>
        </p:nvSpPr>
        <p:spPr>
          <a:xfrm>
            <a:off x="832435" y="1338331"/>
            <a:ext cx="10725912" cy="2151755"/>
          </a:xfrm>
          <a:prstGeom prst="roundRect">
            <a:avLst/>
          </a:prstGeom>
          <a:solidFill>
            <a:srgbClr val="F4F7F9"/>
          </a:solidFill>
          <a:ln>
            <a:solidFill>
              <a:srgbClr val="23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ounded Rectangle 6"/>
          <p:cNvSpPr/>
          <p:nvPr/>
        </p:nvSpPr>
        <p:spPr>
          <a:xfrm>
            <a:off x="388619" y="1451892"/>
            <a:ext cx="11338560" cy="1935149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COMMUNITY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2200" b="0">
                <a:latin typeface="Arial"/>
              </a:defRPr>
            </a:pP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DETECTION</a:t>
            </a:r>
          </a:p>
        </p:txBody>
      </p:sp>
      <p:sp>
        <p:nvSpPr>
          <p:cNvPr id="61" name="Rounded Rectangle 11">
            <a:extLst>
              <a:ext uri="{FF2B5EF4-FFF2-40B4-BE49-F238E27FC236}">
                <a16:creationId xmlns:a16="http://schemas.microsoft.com/office/drawing/2014/main" id="{C6893882-C310-440B-6C2D-7923BF568B31}"/>
              </a:ext>
            </a:extLst>
          </p:cNvPr>
          <p:cNvSpPr/>
          <p:nvPr/>
        </p:nvSpPr>
        <p:spPr>
          <a:xfrm>
            <a:off x="832435" y="3841965"/>
            <a:ext cx="5983536" cy="2151755"/>
          </a:xfrm>
          <a:prstGeom prst="roundRect">
            <a:avLst/>
          </a:prstGeom>
          <a:solidFill>
            <a:srgbClr val="F4F7F9"/>
          </a:solidFill>
          <a:ln>
            <a:solidFill>
              <a:srgbClr val="23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2E99CE2F-B7CC-1E5C-DFFE-0B5DE998B2B9}"/>
              </a:ext>
            </a:extLst>
          </p:cNvPr>
          <p:cNvSpPr txBox="1"/>
          <p:nvPr/>
        </p:nvSpPr>
        <p:spPr>
          <a:xfrm>
            <a:off x="950407" y="3945011"/>
            <a:ext cx="6163876" cy="1897955"/>
          </a:xfrm>
          <a:prstGeom prst="rect">
            <a:avLst/>
          </a:prstGeom>
        </p:spPr>
        <p:txBody>
          <a:bodyPr vert="horz" wrap="square" lIns="109728" tIns="73152" rIns="109728" bIns="73152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defRPr sz="1400" b="0">
                <a:latin typeface="Arial"/>
              </a:defRPr>
            </a:pPr>
            <a:r>
              <a:t>Presented By:</a:t>
            </a:r>
          </a:p>
          <a:p>
            <a:pPr algn="ctr">
              <a:spcAft>
                <a:spcPts val="400"/>
              </a:spcAft>
              <a:defRPr sz="1400" b="0">
                <a:latin typeface="Arial"/>
              </a:defRPr>
            </a:pPr>
            <a:r>
              <a:t>H RAGHAVENDRA SHETTY (1AM23IS061)</a:t>
            </a:r>
          </a:p>
          <a:p>
            <a:pPr algn="ctr">
              <a:spcAft>
                <a:spcPts val="400"/>
              </a:spcAft>
              <a:defRPr sz="1400" b="0">
                <a:latin typeface="Arial"/>
              </a:defRPr>
            </a:pPr>
            <a:r>
              <a:t>ROHAN P (1AM23IS130)</a:t>
            </a:r>
          </a:p>
          <a:p>
            <a:pPr algn="ctr">
              <a:spcAft>
                <a:spcPts val="400"/>
              </a:spcAft>
              <a:defRPr sz="1400" b="0">
                <a:latin typeface="Arial"/>
              </a:defRPr>
            </a:pPr>
            <a:r>
              <a:t>SHREYAS SHASHIDHAR (1AM23IS159)</a:t>
            </a:r>
          </a:p>
          <a:p>
            <a:pPr algn="ctr">
              <a:spcAft>
                <a:spcPts val="400"/>
              </a:spcAft>
              <a:defRPr sz="1400" b="0">
                <a:latin typeface="Arial"/>
              </a:defRPr>
            </a:pPr>
            <a:r>
              <a:t>SRUJAN S GOWDA (1AM23IS164)</a:t>
            </a:r>
          </a:p>
        </p:txBody>
      </p:sp>
      <p:sp>
        <p:nvSpPr>
          <p:cNvPr id="63" name="Rounded Rectangle 11">
            <a:extLst>
              <a:ext uri="{FF2B5EF4-FFF2-40B4-BE49-F238E27FC236}">
                <a16:creationId xmlns:a16="http://schemas.microsoft.com/office/drawing/2014/main" id="{F125B316-25B7-7F10-8409-B04D7D024769}"/>
              </a:ext>
            </a:extLst>
          </p:cNvPr>
          <p:cNvSpPr/>
          <p:nvPr/>
        </p:nvSpPr>
        <p:spPr>
          <a:xfrm>
            <a:off x="6933942" y="3841966"/>
            <a:ext cx="4658389" cy="2151755"/>
          </a:xfrm>
          <a:prstGeom prst="roundRect">
            <a:avLst/>
          </a:prstGeom>
          <a:solidFill>
            <a:srgbClr val="F4F7F9"/>
          </a:solidFill>
          <a:ln>
            <a:solidFill>
              <a:srgbClr val="23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A439C024-0303-4689-656A-C376FEFDB5F4}"/>
              </a:ext>
            </a:extLst>
          </p:cNvPr>
          <p:cNvSpPr txBox="1"/>
          <p:nvPr/>
        </p:nvSpPr>
        <p:spPr>
          <a:xfrm>
            <a:off x="8224784" y="4123706"/>
            <a:ext cx="2076703" cy="1282402"/>
          </a:xfrm>
          <a:prstGeom prst="rect">
            <a:avLst/>
          </a:prstGeom>
        </p:spPr>
        <p:txBody>
          <a:bodyPr vert="horz" wrap="square" lIns="109728" tIns="73152" rIns="109728" bIns="73152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defRPr sz="1400" b="0">
                <a:latin typeface="Arial"/>
              </a:defRPr>
            </a:pPr>
            <a:r>
              <a:t>Guided By:</a:t>
            </a:r>
            <a:endParaRPr lang="en-US" sz="2000" b="1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400" b="0">
                <a:latin typeface="Arial"/>
              </a:defRPr>
            </a:pPr>
            <a:r>
              <a:t>Ms. Maria Sneha</a:t>
            </a:r>
          </a:p>
          <a:p>
            <a:pPr algn="ctr">
              <a:spcAft>
                <a:spcPts val="400"/>
              </a:spcAft>
              <a:defRPr sz="1400" b="0">
                <a:latin typeface="Arial"/>
              </a:defRPr>
            </a:pPr>
            <a:r>
              <a:t>Assistant Professor</a:t>
            </a:r>
          </a:p>
          <a:p>
            <a:pPr algn="ctr">
              <a:spcAft>
                <a:spcPts val="400"/>
              </a:spcAft>
              <a:defRPr sz="1400" b="0">
                <a:latin typeface="Arial"/>
              </a:defRPr>
            </a:pPr>
            <a:r>
              <a:t>Dept. of ISE, AMCEC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rmAutofit/>
          </a:bodyPr>
          <a:lstStyle/>
          <a:p>
            <a:pPr algn="l">
              <a:spcAft>
                <a:spcPts val="26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Urban Pulse AI is an evidence-aware civic reporting and response platform built for Bengaluru.</a:t>
            </a:r>
          </a:p>
          <a:p>
            <a:pPr algn="l">
              <a:spcAft>
                <a:spcPts val="26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Multi-format evidence: </a:t>
            </a:r>
            <a:r>
              <a:rPr sz="1200" b="0">
                <a:latin typeface="Arial"/>
              </a:rPr>
              <a:t xml:space="preserve">accepts text, voice transcript, image and location evidence.</a:t>
            </a:r>
          </a:p>
          <a:p>
            <a:pPr algn="l">
              <a:spcAft>
                <a:spcPts val="26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Visual understanding: </a:t>
            </a:r>
            <a:r>
              <a:rPr sz="1200" b="0">
                <a:latin typeface="Arial"/>
              </a:rPr>
              <a:t xml:space="preserve">uses Florence-2 for structured visual observations and uncertainty signals.</a:t>
            </a:r>
          </a:p>
          <a:p>
            <a:pPr algn="l">
              <a:spcAft>
                <a:spcPts val="26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Combined reasoning: </a:t>
            </a:r>
            <a:r>
              <a:rPr sz="1200" b="0">
                <a:latin typeface="Arial"/>
              </a:rPr>
              <a:t xml:space="preserve">fuses text, image, location and prior-report context for civic decision-making.</a:t>
            </a:r>
          </a:p>
          <a:p>
            <a:pPr algn="l">
              <a:spcAft>
                <a:spcPts val="26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Smart routing: </a:t>
            </a:r>
            <a:r>
              <a:rPr sz="1200" b="0">
                <a:latin typeface="Arial"/>
              </a:rPr>
              <a:t xml:space="preserve">supports category, priority, threat assessment, ward/department routing and human review.</a:t>
            </a:r>
          </a:p>
          <a:p>
            <a:pPr algn="l">
              <a:spcAft>
                <a:spcPts val="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Accountability: </a:t>
            </a:r>
            <a:r>
              <a:rPr sz="1200" b="0">
                <a:latin typeface="Arial"/>
              </a:rPr>
              <a:t xml:space="preserve">preserves decision audits and supports authority and community workflows.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2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85800" y="1874519"/>
          <a:ext cx="81838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2057400"/>
                <a:gridCol w="1234440"/>
                <a:gridCol w="1554480"/>
                <a:gridCol w="1508760"/>
                <a:gridCol w="1417320"/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940" b="1">
                          <a:latin typeface="Arial"/>
                        </a:defRPr>
                      </a:pPr>
                      <a:r>
                        <a:t>Sl.</a:t>
                      </a:r>
                    </a:p>
                    <a:p>
                      <a:pPr algn="ctr">
                        <a:defRPr sz="940" b="1"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latin typeface="Arial"/>
                        </a:defRPr>
                      </a:pPr>
                      <a:r>
                        <a:t>Title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latin typeface="Arial"/>
                        </a:defRPr>
                      </a:pPr>
                      <a:r>
                        <a:t>Author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latin typeface="Arial"/>
                        </a:defRPr>
                      </a:pPr>
                      <a:r>
                        <a:t>Findings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latin typeface="Arial"/>
                        </a:defRPr>
                      </a:pPr>
                      <a:r>
                        <a:t>Gaps</a:t>
                      </a:r>
                    </a:p>
                  </a:txBody>
                  <a:tcPr marL="32004" marR="32004" marT="22860" marB="22860"/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Florence-2: Advancing a Unified Representation for a Variety of Vision Tasks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Xiao et al. (2024)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Prompt-based vision foundation model; multi-task seq2seq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Unified captioning, detection, grounding and segmentation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General vision model; civic decision rules remain application-specific</a:t>
                      </a:r>
                    </a:p>
                  </a:txBody>
                  <a:tcPr marL="32004" marR="32004" marT="22860" marB="22860"/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Sentence-BERT: Sentence Embeddings using Siamese BERT-Networks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Reimers &amp; Gurevych (2019)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Siamese/triplet sentence embeddings + cosine similarity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Efficient semantic similarity search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Not designed for multimodal civic routing</a:t>
                      </a:r>
                    </a:p>
                  </a:txBody>
                  <a:tcPr marL="32004" marR="32004" marT="22860" marB="22860"/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UrBench: A Comprehensive Benchmark for Evaluating Large Multimodal Models in Multi-View Urban Scenarios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Zhou et al. (2025)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Urban multimodal benchmark across 14 task types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Shows LMM gaps in complex urban reasoning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Benchmarking does not provide an end-to-end civic workflow</a:t>
                      </a:r>
                    </a:p>
                  </a:txBody>
                  <a:tcPr marL="32004" marR="32004" marT="22860" marB="22860"/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AI Based Smart Civic Complaint Management System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Suganthi et al. (2026)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AI/ML, NLP and image processing for complaint management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Targets automated civic complaint handling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Limited evidence-aware multimodal safety/decision boundaries</a:t>
                      </a:r>
                    </a:p>
                  </a:txBody>
                  <a:tcPr marL="32004" marR="32004" marT="22860" marB="22860"/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Robust Speech Recognition via Large-Scale Weak Supervision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Radford et al. (2023)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Large-scale weakly supervised speech recognition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Strong multilingual speech recognition foundation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Speech transcription alone does not solve civic reasoning/routing</a:t>
                      </a:r>
                    </a:p>
                  </a:txBody>
                  <a:tcPr marL="32004" marR="32004" marT="22860" marB="2286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MOTIVATION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rmAutofit/>
          </a:bodyPr>
          <a:lstStyle/>
          <a:p>
            <a:pPr algn="l">
              <a:spcAft>
                <a:spcPts val="28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Urban complaints often arrive as incomplete or single-format evidence.</a:t>
            </a:r>
          </a:p>
          <a:p>
            <a:pPr algn="l">
              <a:spcAft>
                <a:spcPts val="28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Manual classification can delay routing and response.</a:t>
            </a:r>
          </a:p>
          <a:p>
            <a:pPr algn="l">
              <a:spcAft>
                <a:spcPts val="28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Images can reveal hazards and infrastructure evidence that text may miss.</a:t>
            </a:r>
          </a:p>
          <a:p>
            <a:pPr algn="l">
              <a:spcAft>
                <a:spcPts val="28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Risk and uncertainty should influence whether a case is automated or reviewed.</a:t>
            </a:r>
          </a:p>
          <a:p>
            <a:pPr algn="l">
              <a:spcAft>
                <a:spcPts val="28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Bengaluru-specific ward and department routing can reduce operational ambiguity.</a:t>
            </a:r>
          </a:p>
          <a:p>
            <a:pPr algn="l">
              <a:spcAft>
                <a:spcPts val="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A transparent audit trail supports accountable AI-assisted civic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3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rmAutofit/>
          </a:bodyPr>
          <a:lstStyle/>
          <a:p>
            <a:pPr algn="ctr">
              <a:spcAft>
                <a:spcPts val="0"/>
              </a:spcAft>
              <a:defRPr sz="1400" b="1">
                <a:latin typeface="Arial"/>
              </a:defRPr>
            </a:pPr>
            <a:r>
              <a:rPr sz="1400" b="1">
                <a:latin typeface="Arial"/>
              </a:rPr>
              <a:t xml:space="preserve">Urban civic reporting often lacks an evidence-aware mechanism that can combine multimodal citizen inputs with risk assessment, location-based routing and human-review safeguards for timely and accountable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4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rmAutofit/>
          </a:bodyPr>
          <a:lstStyle/>
          <a:p>
            <a:pPr algn="l">
              <a:spcAft>
                <a:spcPts val="2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Build a multimodal civic reporting platform for text, voice, image and Bengaluru location evidence.</a:t>
            </a:r>
          </a:p>
          <a:p>
            <a:pPr algn="l">
              <a:spcAft>
                <a:spcPts val="2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Extract structured visual observations from submitted images using Florence-2.</a:t>
            </a:r>
          </a:p>
          <a:p>
            <a:pPr algn="l">
              <a:spcAft>
                <a:spcPts val="2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Combine semantic text evidence, visual evidence and prior-report context for civic classification.</a:t>
            </a:r>
          </a:p>
          <a:p>
            <a:pPr algn="l">
              <a:spcAft>
                <a:spcPts val="2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Estimate confidence, severity, threat evidence and review requirements safely.</a:t>
            </a:r>
          </a:p>
          <a:p>
            <a:pPr algn="l">
              <a:spcAft>
                <a:spcPts val="2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Resolve Bengaluru ward and department routing using configurable civic rules.</a:t>
            </a:r>
          </a:p>
          <a:p>
            <a:pPr algn="l">
              <a:spcAft>
                <a:spcPts val="2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Support duplicate/incident intelligence, community verification and authority handoff.</a:t>
            </a:r>
          </a:p>
          <a:p>
            <a:pPr algn="l">
              <a:spcAft>
                <a:spcPts val="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Preserve human corrections and important decisions through an append-only audit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5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9" name="Architecture Diagram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01" name="Box 101"/>
            <p:cNvSpPr/>
            <p:nvPr/>
          </p:nvSpPr>
          <p:spPr>
            <a:xfrm>
              <a:off x="2826480" y="1874519"/>
              <a:ext cx="6600000" cy="370000"/>
            </a:xfrm>
            <a:prstGeom prst="roundRect">
              <a:avLst>
                <a:gd name="adj" fmla="val 8000"/>
              </a:avLst>
            </a:prstGeom>
            <a:solidFill>
              <a:srgbClr val="0E5B74"/>
            </a:solidFill>
            <a:ln w="12700">
              <a:solidFill>
                <a:srgbClr val="FFFFFF"/>
              </a:solidFill>
            </a:ln>
            <a:effectLst>
              <a:outerShdw blurRad="40000" dist="20000" dir="5400000" rotWithShape="0">
                <a:srgbClr val="000000">
                  <a:alpha val="25000"/>
                </a:srgbClr>
              </a:outerShdw>
            </a:effectLst>
          </p:spPr>
          <p:txBody>
            <a:bodyPr rtlCol="0" anchor="ctr" wrap="square" lIns="45720" rIns="45720" tIns="18288" bIns="18288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Arial"/>
                </a:rPr>
                <a:t>CITIZEN / ADMIN</a:t>
              </a:r>
            </a:p>
          </p:txBody>
        </p:sp>
        <p:cxnSp>
          <p:nvCxnSpPr>
            <p:cNvPr id="102" name="Arrow 102"/>
            <p:cNvCxnSpPr/>
            <p:nvPr/>
          </p:nvCxnSpPr>
          <p:spPr>
            <a:xfrm flipH="0" flipV="0">
              <a:off x="6126480" y="2244519"/>
              <a:ext cx="1" cy="12500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Box 103"/>
            <p:cNvSpPr/>
            <p:nvPr/>
          </p:nvSpPr>
          <p:spPr>
            <a:xfrm>
              <a:off x="2826480" y="2369519"/>
              <a:ext cx="6600000" cy="370000"/>
            </a:xfrm>
            <a:prstGeom prst="roundRect">
              <a:avLst>
                <a:gd name="adj" fmla="val 8000"/>
              </a:avLst>
            </a:prstGeom>
            <a:solidFill>
              <a:srgbClr val="152935"/>
            </a:solidFill>
            <a:ln w="12700">
              <a:solidFill>
                <a:srgbClr val="FFFFFF"/>
              </a:solidFill>
            </a:ln>
            <a:effectLst>
              <a:outerShdw blurRad="40000" dist="20000" dir="5400000" rotWithShape="0">
                <a:srgbClr val="000000">
                  <a:alpha val="25000"/>
                </a:srgbClr>
              </a:outerShdw>
            </a:effectLst>
          </p:spPr>
          <p:txBody>
            <a:bodyPr rtlCol="0" anchor="ctr" wrap="square" lIns="45720" rIns="45720" tIns="18288" bIns="18288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Arial"/>
                </a:rPr>
                <a:t>BROWSER CLIENT</a:t>
              </a:r>
            </a:p>
            <a:p>
              <a:pPr algn="ctr"/>
              <a:r>
                <a:rPr sz="1200" b="0" dirty="0">
                  <a:solidFill>
                    <a:srgbClr val="FFFFFF"/>
                  </a:solidFill>
                  <a:latin typeface="Arial"/>
                </a:rPr>
                <a:t>(React / HTML5 UI)</a:t>
              </a:r>
            </a:p>
          </p:txBody>
        </p:sp>
        <p:cxnSp>
          <p:nvCxnSpPr>
            <p:cNvPr id="104" name="Arrow 104"/>
            <p:cNvCxnSpPr/>
            <p:nvPr/>
          </p:nvCxnSpPr>
          <p:spPr>
            <a:xfrm flipH="0" flipV="0">
              <a:off x="6126480" y="2739519"/>
              <a:ext cx="1" cy="12500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Box 105"/>
            <p:cNvSpPr/>
            <p:nvPr/>
          </p:nvSpPr>
          <p:spPr>
            <a:xfrm>
              <a:off x="2826480" y="2864519"/>
              <a:ext cx="6600000" cy="370000"/>
            </a:xfrm>
            <a:prstGeom prst="roundRect">
              <a:avLst>
                <a:gd name="adj" fmla="val 8000"/>
              </a:avLst>
            </a:prstGeom>
            <a:solidFill>
              <a:srgbClr val="0D5671"/>
            </a:solidFill>
            <a:ln w="12700">
              <a:solidFill>
                <a:srgbClr val="FFFFFF"/>
              </a:solidFill>
            </a:ln>
            <a:effectLst>
              <a:outerShdw blurRad="40000" dist="20000" dir="5400000" rotWithShape="0">
                <a:srgbClr val="000000">
                  <a:alpha val="25000"/>
                </a:srgbClr>
              </a:outerShdw>
            </a:effectLst>
          </p:spPr>
          <p:txBody>
            <a:bodyPr rtlCol="0" anchor="ctr" wrap="square" lIns="45720" rIns="45720" tIns="18288" bIns="18288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Arial"/>
                </a:rPr>
                <a:t>EXPRESS API</a:t>
              </a:r>
            </a:p>
            <a:p>
              <a:pPr algn="ctr"/>
              <a:r>
                <a:rPr sz="1200" b="0" dirty="0">
                  <a:solidFill>
                    <a:srgbClr val="FFFFFF"/>
                  </a:solidFill>
                  <a:latin typeface="Arial"/>
                </a:rPr>
                <a:t>(Node.js)</a:t>
              </a:r>
            </a:p>
          </p:txBody>
        </p:sp>
        <p:cxnSp>
          <p:nvCxnSpPr>
            <p:cNvPr id="106" name="Arrow 106"/>
            <p:cNvCxnSpPr/>
            <p:nvPr/>
          </p:nvCxnSpPr>
          <p:spPr>
            <a:xfrm flipH="1" flipV="0">
              <a:off x="3691140" y="3234519"/>
              <a:ext cx="2435340" cy="12500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Arrow 107"/>
            <p:cNvCxnSpPr/>
            <p:nvPr/>
          </p:nvCxnSpPr>
          <p:spPr>
            <a:xfrm flipH="0" flipV="0">
              <a:off x="6126480" y="3234519"/>
              <a:ext cx="2435340" cy="12500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Box 108"/>
            <p:cNvSpPr/>
            <p:nvPr/>
          </p:nvSpPr>
          <p:spPr>
            <a:xfrm>
              <a:off x="1385800" y="3359519"/>
              <a:ext cx="4610680" cy="370000"/>
            </a:xfrm>
            <a:prstGeom prst="roundRect">
              <a:avLst>
                <a:gd name="adj" fmla="val 8000"/>
              </a:avLst>
            </a:prstGeom>
            <a:solidFill>
              <a:srgbClr val="9BBB59"/>
            </a:solidFill>
            <a:ln w="12700">
              <a:solidFill>
                <a:srgbClr val="FFFFFF"/>
              </a:solidFill>
            </a:ln>
            <a:effectLst>
              <a:outerShdw blurRad="40000" dist="20000" dir="5400000" rotWithShape="0">
                <a:srgbClr val="000000">
                  <a:alpha val="25000"/>
                </a:srgbClr>
              </a:outerShdw>
            </a:effectLst>
          </p:spPr>
          <p:txBody>
            <a:bodyPr rtlCol="0" anchor="ctr" wrap="square" lIns="45720" rIns="45720" tIns="18288" bIns="18288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Arial"/>
                </a:rPr>
                <a:t>MongoDB Atlas</a:t>
              </a:r>
            </a:p>
            <a:p>
              <a:pPr algn="ctr"/>
              <a:r>
                <a:rPr sz="1200" b="0" dirty="0">
                  <a:solidFill>
                    <a:srgbClr val="FFFFFF"/>
                  </a:solidFill>
                  <a:latin typeface="Arial"/>
                </a:rPr>
                <a:t>(data store)</a:t>
              </a:r>
            </a:p>
          </p:txBody>
        </p:sp>
        <p:sp>
          <p:nvSpPr>
            <p:cNvPr id="109" name="Box 109"/>
            <p:cNvSpPr/>
            <p:nvPr/>
          </p:nvSpPr>
          <p:spPr>
            <a:xfrm>
              <a:off x="6256480" y="3359519"/>
              <a:ext cx="4610680" cy="370000"/>
            </a:xfrm>
            <a:prstGeom prst="roundRect">
              <a:avLst>
                <a:gd name="adj" fmla="val 8000"/>
              </a:avLst>
            </a:prstGeom>
            <a:solidFill>
              <a:srgbClr val="F79646"/>
            </a:solidFill>
            <a:ln w="12700">
              <a:solidFill>
                <a:srgbClr val="FFFFFF"/>
              </a:solidFill>
            </a:ln>
            <a:effectLst>
              <a:outerShdw blurRad="40000" dist="20000" dir="5400000" rotWithShape="0">
                <a:srgbClr val="000000">
                  <a:alpha val="25000"/>
                </a:srgbClr>
              </a:outerShdw>
            </a:effectLst>
          </p:spPr>
          <p:txBody>
            <a:bodyPr rtlCol="0" anchor="ctr" wrap="square" lIns="45720" rIns="45720" tIns="18288" bIns="18288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Arial"/>
                </a:rPr>
                <a:t>Flask AI Service</a:t>
              </a:r>
            </a:p>
            <a:p>
              <a:pPr algn="ctr"/>
              <a:r>
                <a:rPr sz="1200" b="0" dirty="0">
                  <a:solidFill>
                    <a:srgbClr val="FFFFFF"/>
                  </a:solidFill>
                  <a:latin typeface="Arial"/>
                </a:rPr>
                <a:t>(complaint analysis)</a:t>
              </a:r>
            </a:p>
          </p:txBody>
        </p:sp>
        <p:cxnSp>
          <p:nvCxnSpPr>
            <p:cNvPr id="110" name="Arrow 110"/>
            <p:cNvCxnSpPr/>
            <p:nvPr/>
          </p:nvCxnSpPr>
          <p:spPr>
            <a:xfrm flipH="0" flipV="0">
              <a:off x="8561820" y="3729519"/>
              <a:ext cx="1" cy="12500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Box 111"/>
            <p:cNvSpPr/>
            <p:nvPr/>
          </p:nvSpPr>
          <p:spPr>
            <a:xfrm>
              <a:off x="2826480" y="3854519"/>
              <a:ext cx="6600000" cy="370000"/>
            </a:xfrm>
            <a:prstGeom prst="roundRect">
              <a:avLst>
                <a:gd name="adj" fmla="val 8000"/>
              </a:avLst>
            </a:prstGeom>
            <a:solidFill>
              <a:srgbClr val="8064A2"/>
            </a:solidFill>
            <a:ln w="12700">
              <a:solidFill>
                <a:srgbClr val="FFFFFF"/>
              </a:solidFill>
            </a:ln>
            <a:effectLst>
              <a:outerShdw blurRad="40000" dist="20000" dir="5400000" rotWithShape="0">
                <a:srgbClr val="000000">
                  <a:alpha val="25000"/>
                </a:srgbClr>
              </a:outerShdw>
            </a:effectLst>
          </p:spPr>
          <p:txBody>
            <a:bodyPr rtlCol="0" anchor="ctr" wrap="square" lIns="45720" rIns="45720" tIns="18288" bIns="18288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Arial"/>
                </a:rPr>
                <a:t>FLORENCE-2 VISUAL SERVICE</a:t>
              </a:r>
            </a:p>
            <a:p>
              <a:pPr algn="ctr"/>
              <a:r>
                <a:rPr sz="1200" b="0" dirty="0">
                  <a:solidFill>
                    <a:srgbClr val="FFFFFF"/>
                  </a:solidFill>
                  <a:latin typeface="Arial"/>
                </a:rPr>
                <a:t>(AWS EC2)</a:t>
              </a:r>
            </a:p>
          </p:txBody>
        </p:sp>
        <p:cxnSp>
          <p:nvCxnSpPr>
            <p:cNvPr id="112" name="Arrow 112"/>
            <p:cNvCxnSpPr/>
            <p:nvPr/>
          </p:nvCxnSpPr>
          <p:spPr>
            <a:xfrm flipH="0" flipV="0">
              <a:off x="6126480" y="4224519"/>
              <a:ext cx="1" cy="12500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Box 113"/>
            <p:cNvSpPr/>
            <p:nvPr/>
          </p:nvSpPr>
          <p:spPr>
            <a:xfrm>
              <a:off x="2826480" y="4349519"/>
              <a:ext cx="6600000" cy="370000"/>
            </a:xfrm>
            <a:prstGeom prst="roundRect">
              <a:avLst>
                <a:gd name="adj" fmla="val 8000"/>
              </a:avLst>
            </a:prstGeom>
            <a:solidFill>
              <a:srgbClr val="0E5B74"/>
            </a:solidFill>
            <a:ln w="12700">
              <a:solidFill>
                <a:srgbClr val="FFFFFF"/>
              </a:solidFill>
            </a:ln>
            <a:effectLst>
              <a:outerShdw blurRad="40000" dist="20000" dir="5400000" rotWithShape="0">
                <a:srgbClr val="000000">
                  <a:alpha val="25000"/>
                </a:srgbClr>
              </a:outerShdw>
            </a:effectLst>
          </p:spPr>
          <p:txBody>
            <a:bodyPr rtlCol="0" anchor="ctr" wrap="square" lIns="45720" rIns="45720" tIns="18288" bIns="18288"/>
            <a:lstStyle/>
            <a:p>
              <a:pPr algn="ctr"/>
              <a:r>
                <a:rPr sz="1500" b="1" dirty="0">
                  <a:solidFill>
                    <a:srgbClr val="FFFFFF"/>
                  </a:solidFill>
                  <a:latin typeface="Arial"/>
                </a:rPr>
                <a:t>URBAN PULSE DECISION ENGINE</a:t>
              </a:r>
            </a:p>
          </p:txBody>
        </p:sp>
        <p:cxnSp>
          <p:nvCxnSpPr>
            <p:cNvPr id="114" name="Arrow 114"/>
            <p:cNvCxnSpPr/>
            <p:nvPr/>
          </p:nvCxnSpPr>
          <p:spPr>
            <a:xfrm flipH="1" flipV="0">
              <a:off x="2759360" y="4719519"/>
              <a:ext cx="3367120" cy="12500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Arrow 115"/>
            <p:cNvCxnSpPr/>
            <p:nvPr/>
          </p:nvCxnSpPr>
          <p:spPr>
            <a:xfrm flipH="0" flipV="0">
              <a:off x="6126480" y="4719519"/>
              <a:ext cx="1" cy="12500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Arrow 116"/>
            <p:cNvCxnSpPr/>
            <p:nvPr/>
          </p:nvCxnSpPr>
          <p:spPr>
            <a:xfrm flipH="0" flipV="0">
              <a:off x="6126480" y="4719519"/>
              <a:ext cx="3367120" cy="12500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Box 117"/>
            <p:cNvSpPr/>
            <p:nvPr/>
          </p:nvSpPr>
          <p:spPr>
            <a:xfrm>
              <a:off x="1185800" y="4844519"/>
              <a:ext cx="3147120" cy="370000"/>
            </a:xfrm>
            <a:prstGeom prst="roundRect">
              <a:avLst>
                <a:gd name="adj" fmla="val 8000"/>
              </a:avLst>
            </a:prstGeom>
            <a:solidFill>
              <a:srgbClr val="4F81BD"/>
            </a:solidFill>
            <a:ln w="12700">
              <a:solidFill>
                <a:srgbClr val="FFFFFF"/>
              </a:solidFill>
            </a:ln>
            <a:effectLst>
              <a:outerShdw blurRad="40000" dist="20000" dir="5400000" rotWithShape="0">
                <a:srgbClr val="000000">
                  <a:alpha val="25000"/>
                </a:srgbClr>
              </a:outerShdw>
            </a:effectLst>
          </p:spPr>
          <p:txBody>
            <a:bodyPr rtlCol="0" anchor="ctr" wrap="square" lIns="45720" rIns="45720" tIns="18288" bIns="18288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Arial"/>
                </a:rPr>
                <a:t>Routing</a:t>
              </a:r>
            </a:p>
          </p:txBody>
        </p:sp>
        <p:sp>
          <p:nvSpPr>
            <p:cNvPr id="118" name="Box 118"/>
            <p:cNvSpPr/>
            <p:nvPr/>
          </p:nvSpPr>
          <p:spPr>
            <a:xfrm>
              <a:off x="4552920" y="4844519"/>
              <a:ext cx="3147120" cy="370000"/>
            </a:xfrm>
            <a:prstGeom prst="roundRect">
              <a:avLst>
                <a:gd name="adj" fmla="val 8000"/>
              </a:avLst>
            </a:prstGeom>
            <a:solidFill>
              <a:srgbClr val="C0504D"/>
            </a:solidFill>
            <a:ln w="12700">
              <a:solidFill>
                <a:srgbClr val="FFFFFF"/>
              </a:solidFill>
            </a:ln>
            <a:effectLst>
              <a:outerShdw blurRad="40000" dist="20000" dir="5400000" rotWithShape="0">
                <a:srgbClr val="000000">
                  <a:alpha val="25000"/>
                </a:srgbClr>
              </a:outerShdw>
            </a:effectLst>
          </p:spPr>
          <p:txBody>
            <a:bodyPr rtlCol="0" anchor="ctr" wrap="square" lIns="45720" rIns="45720" tIns="18288" bIns="18288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Arial"/>
                </a:rPr>
                <a:t>Authority</a:t>
              </a:r>
            </a:p>
          </p:txBody>
        </p:sp>
        <p:sp>
          <p:nvSpPr>
            <p:cNvPr id="119" name="Box 119"/>
            <p:cNvSpPr/>
            <p:nvPr/>
          </p:nvSpPr>
          <p:spPr>
            <a:xfrm>
              <a:off x="7920040" y="4844519"/>
              <a:ext cx="3147120" cy="370000"/>
            </a:xfrm>
            <a:prstGeom prst="roundRect">
              <a:avLst>
                <a:gd name="adj" fmla="val 8000"/>
              </a:avLst>
            </a:prstGeom>
            <a:solidFill>
              <a:srgbClr val="9BBB59"/>
            </a:solidFill>
            <a:ln w="12700">
              <a:solidFill>
                <a:srgbClr val="FFFFFF"/>
              </a:solidFill>
            </a:ln>
            <a:effectLst>
              <a:outerShdw blurRad="40000" dist="20000" dir="5400000" rotWithShape="0">
                <a:srgbClr val="000000">
                  <a:alpha val="25000"/>
                </a:srgbClr>
              </a:outerShdw>
            </a:effectLst>
          </p:spPr>
          <p:txBody>
            <a:bodyPr rtlCol="0" anchor="ctr" wrap="square" lIns="45720" rIns="45720" tIns="18288" bIns="18288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Arial"/>
                </a:rPr>
                <a:t>Community</a:t>
              </a:r>
            </a:p>
          </p:txBody>
        </p:sp>
        <p:cxnSp>
          <p:nvCxnSpPr>
            <p:cNvPr id="120" name="Arrow 120"/>
            <p:cNvCxnSpPr/>
            <p:nvPr/>
          </p:nvCxnSpPr>
          <p:spPr>
            <a:xfrm flipH="0" flipV="0">
              <a:off x="6126480" y="5214519"/>
              <a:ext cx="1" cy="12500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Box 121"/>
            <p:cNvSpPr/>
            <p:nvPr/>
          </p:nvSpPr>
          <p:spPr>
            <a:xfrm>
              <a:off x="2826480" y="5339519"/>
              <a:ext cx="6600000" cy="370000"/>
            </a:xfrm>
            <a:prstGeom prst="roundRect">
              <a:avLst>
                <a:gd name="adj" fmla="val 8000"/>
              </a:avLst>
            </a:prstGeom>
            <a:solidFill>
              <a:srgbClr val="152935"/>
            </a:solidFill>
            <a:ln w="12700">
              <a:solidFill>
                <a:srgbClr val="FFFFFF"/>
              </a:solidFill>
            </a:ln>
            <a:effectLst>
              <a:outerShdw blurRad="40000" dist="20000" dir="5400000" rotWithShape="0">
                <a:srgbClr val="000000">
                  <a:alpha val="25000"/>
                </a:srgbClr>
              </a:outerShdw>
            </a:effectLst>
          </p:spPr>
          <p:txBody>
            <a:bodyPr rtlCol="0" anchor="ctr" wrap="square" lIns="45720" rIns="45720" tIns="18288" bIns="18288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Arial"/>
                </a:rPr>
                <a:t>SMTP / ALERTS / REPORTS</a:t>
              </a:r>
            </a:p>
          </p:txBody>
        </p:sp>
        <p:sp>
          <p:nvSpPr>
            <p:cNvPr id="122" name="Label 122"/>
            <p:cNvSpPr txBox="1"/>
            <p:nvPr/>
          </p:nvSpPr>
          <p:spPr>
            <a:xfrm>
              <a:off x="685800" y="5799519"/>
              <a:ext cx="10881360" cy="300000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ctr"/>
              <a:r>
                <a:rPr sz="1000" i="1" b="0" dirty="0">
                  <a:solidFill>
                    <a:srgbClr val="595959"/>
                  </a:solidFill>
                  <a:latin typeface="Arial"/>
                </a:rPr>
                <a:t>External context: Weatherstack + civic search — optional providers, quota-guarded and failure-isolated.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6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  <p:sp>
        <p:nvSpPr>
          <p:cNvPr id="1000" name="Rectangle 999"/>
          <p:cNvSpPr/>
          <p:nvPr/>
        </p:nvSpPr>
        <p:spPr>
          <a:xfrm>
            <a:off x="320040" y="713232"/>
            <a:ext cx="11567160" cy="5623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TextBox 1000"/>
          <p:cNvSpPr txBox="1"/>
          <p:nvPr/>
        </p:nvSpPr>
        <p:spPr>
          <a:xfrm>
            <a:off x="502920" y="868680"/>
            <a:ext cx="11201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F2230"/>
                </a:solidFill>
              </a:rPr>
              <a:t>SYSTEM ARCHITECTURE</a:t>
            </a:r>
          </a:p>
        </p:txBody>
      </p:sp>
      <p:sp>
        <p:nvSpPr>
          <p:cNvPr id="1002" name="Rounded Rectangle 1001"/>
          <p:cNvSpPr/>
          <p:nvPr/>
        </p:nvSpPr>
        <p:spPr>
          <a:xfrm>
            <a:off x="4160520" y="1325880"/>
            <a:ext cx="3886200" cy="502920"/>
          </a:xfrm>
          <a:prstGeom prst="roundRect">
            <a:avLst/>
          </a:prstGeom>
          <a:solidFill>
            <a:srgbClr val="0C6579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Citizen / Admin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uses web application</a:t>
            </a:r>
          </a:p>
        </p:txBody>
      </p:sp>
      <p:sp>
        <p:nvSpPr>
          <p:cNvPr id="1003" name="Rounded Rectangle 1002"/>
          <p:cNvSpPr/>
          <p:nvPr/>
        </p:nvSpPr>
        <p:spPr>
          <a:xfrm>
            <a:off x="4160520" y="1965960"/>
            <a:ext cx="3886200" cy="566928"/>
          </a:xfrm>
          <a:prstGeom prst="roundRect">
            <a:avLst/>
          </a:prstGeom>
          <a:solidFill>
            <a:srgbClr val="0F2230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Browser Client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HTML / CSS / JavaScript UI</a:t>
            </a:r>
          </a:p>
        </p:txBody>
      </p:sp>
      <p:sp>
        <p:nvSpPr>
          <p:cNvPr id="1004" name="Rounded Rectangle 1003"/>
          <p:cNvSpPr/>
          <p:nvPr/>
        </p:nvSpPr>
        <p:spPr>
          <a:xfrm>
            <a:off x="3840480" y="2724912"/>
            <a:ext cx="4526280" cy="621792"/>
          </a:xfrm>
          <a:prstGeom prst="roundRect">
            <a:avLst/>
          </a:prstGeom>
          <a:solidFill>
            <a:srgbClr val="0C6579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Express API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auth, complaints, routing, reports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685800" y="3685032"/>
            <a:ext cx="2971800" cy="713232"/>
          </a:xfrm>
          <a:prstGeom prst="roundRect">
            <a:avLst/>
          </a:prstGeom>
          <a:solidFill>
            <a:srgbClr val="6A994E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MongoDB Atlas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users, complaints, audits</a:t>
            </a:r>
          </a:p>
        </p:txBody>
      </p:sp>
      <p:sp>
        <p:nvSpPr>
          <p:cNvPr id="1006" name="Rounded Rectangle 1005"/>
          <p:cNvSpPr/>
          <p:nvPr/>
        </p:nvSpPr>
        <p:spPr>
          <a:xfrm>
            <a:off x="4343400" y="3685032"/>
            <a:ext cx="3520440" cy="713232"/>
          </a:xfrm>
          <a:prstGeom prst="roundRect">
            <a:avLst/>
          </a:prstGeom>
          <a:solidFill>
            <a:srgbClr val="EA7E34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Flask AI Service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category, severity, threat score</a:t>
            </a:r>
          </a:p>
        </p:txBody>
      </p:sp>
      <p:sp>
        <p:nvSpPr>
          <p:cNvPr id="1007" name="Rounded Rectangle 1006"/>
          <p:cNvSpPr/>
          <p:nvPr/>
        </p:nvSpPr>
        <p:spPr>
          <a:xfrm>
            <a:off x="8458200" y="3685032"/>
            <a:ext cx="2971800" cy="713232"/>
          </a:xfrm>
          <a:prstGeom prst="roundRect">
            <a:avLst/>
          </a:prstGeom>
          <a:solidFill>
            <a:srgbClr val="475569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b="1" sz="1100">
                <a:solidFill>
                  <a:srgbClr val="FFFFFF"/>
                </a:solidFill>
              </a:rPr>
              <a:t>External Context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weather + civic search quotas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4343400" y="4617720"/>
            <a:ext cx="3520440" cy="658368"/>
          </a:xfrm>
          <a:prstGeom prst="roundRect">
            <a:avLst/>
          </a:prstGeom>
          <a:solidFill>
            <a:srgbClr val="7E57C2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Florence-2 Vision Service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AWS EC2 image observations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685800" y="5504688"/>
            <a:ext cx="2971800" cy="566928"/>
          </a:xfrm>
          <a:prstGeom prst="roundRect">
            <a:avLst/>
          </a:prstGeom>
          <a:solidFill>
            <a:srgbClr val="0F2230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b="1" sz="1100">
                <a:solidFill>
                  <a:srgbClr val="FFFFFF"/>
                </a:solidFill>
              </a:rPr>
              <a:t>Email / Reports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OTP, alerts, authority PDFs</a:t>
            </a:r>
          </a:p>
        </p:txBody>
      </p:sp>
      <p:sp>
        <p:nvSpPr>
          <p:cNvPr id="1010" name="Rounded Rectangle 1009"/>
          <p:cNvSpPr/>
          <p:nvPr/>
        </p:nvSpPr>
        <p:spPr>
          <a:xfrm>
            <a:off x="4343400" y="5504688"/>
            <a:ext cx="3520440" cy="566928"/>
          </a:xfrm>
          <a:prstGeom prst="roundRect">
            <a:avLst/>
          </a:prstGeom>
          <a:solidFill>
            <a:srgbClr val="3B82F6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b="1" sz="1100">
                <a:solidFill>
                  <a:srgbClr val="FFFFFF"/>
                </a:solidFill>
              </a:rPr>
              <a:t>Dashboards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citizen + admin views</a:t>
            </a:r>
          </a:p>
        </p:txBody>
      </p:sp>
      <p:sp>
        <p:nvSpPr>
          <p:cNvPr id="1011" name="Rounded Rectangle 1010"/>
          <p:cNvSpPr/>
          <p:nvPr/>
        </p:nvSpPr>
        <p:spPr>
          <a:xfrm>
            <a:off x="8458200" y="5504688"/>
            <a:ext cx="2971800" cy="566928"/>
          </a:xfrm>
          <a:prstGeom prst="roundRect">
            <a:avLst/>
          </a:prstGeom>
          <a:solidFill>
            <a:srgbClr val="C44C4C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b="1" sz="1100">
                <a:solidFill>
                  <a:srgbClr val="FFFFFF"/>
                </a:solidFill>
              </a:rPr>
              <a:t>Routing + Community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ward, department, verification</a:t>
            </a:r>
          </a:p>
        </p:txBody>
      </p:sp>
      <p:cxnSp>
        <p:nvCxnSpPr>
          <p:cNvPr id="1012" name="Connector 1011"/>
          <p:cNvCxnSpPr/>
          <p:nvPr/>
        </p:nvCxnSpPr>
        <p:spPr>
          <a:xfrm>
            <a:off x="6108192" y="1828800"/>
            <a:ext cx="0" cy="13716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>
            <a:off x="6108192" y="2532888"/>
            <a:ext cx="0" cy="192024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H="1">
            <a:off x="2176272" y="3346704"/>
            <a:ext cx="3931920" cy="338328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>
            <a:off x="6108192" y="3346704"/>
            <a:ext cx="0" cy="338328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>
            <a:off x="6108192" y="3346704"/>
            <a:ext cx="3840480" cy="338328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>
            <a:off x="6108192" y="4398264"/>
            <a:ext cx="0" cy="219456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 flipH="1">
            <a:off x="2176272" y="3346704"/>
            <a:ext cx="3931920" cy="2157984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>
            <a:off x="6108192" y="3346704"/>
            <a:ext cx="0" cy="2157984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>
            <a:off x="6108192" y="3346704"/>
            <a:ext cx="3840480" cy="2157984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1" name="TextBox 1020"/>
          <p:cNvSpPr txBox="1"/>
          <p:nvPr/>
        </p:nvSpPr>
        <p:spPr>
          <a:xfrm>
            <a:off x="594360" y="61904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75569"/>
                </a:solidFill>
              </a:rPr>
              <a:t>Image analysis supports visual understanding only; Urban Pulse AI makes the final civic decision and safely falls back if providers fail.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ALGORITHMS USED — SEMANTIC CLASSIFICATION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rmAutofit/>
          </a:bodyPr>
          <a:lstStyle/>
          <a:p>
            <a:pPr algn="l">
              <a:spcAft>
                <a:spcPts val="600"/>
              </a:spcAft>
              <a:defRPr sz="1400" b="1">
                <a:latin typeface="Arial"/>
                <a:solidFill>
                  <a:srgbClr val="0E5B74"/>
                </a:solidFill>
              </a:defRPr>
            </a:pPr>
            <a:r>
              <a:rPr sz="1400" b="1">
                <a:latin typeface="Arial"/>
                <a:solidFill>
                  <a:srgbClr val="0E5B74"/>
                </a:solidFill>
              </a:rPr>
              <a:t xml:space="preserve">1. Preparing the Complaint Text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The text is cleaned up — converted to lowercase and split into words and short word-pairs so it can be compared easily.</a:t>
            </a:r>
          </a:p>
          <a:p>
            <a:pPr algn="l">
              <a:spcAft>
                <a:spcPts val="600"/>
              </a:spcAft>
              <a:defRPr sz="1400" b="1">
                <a:latin typeface="Arial"/>
                <a:solidFill>
                  <a:srgbClr val="0E5B74"/>
                </a:solidFill>
              </a:defRPr>
            </a:pPr>
            <a:r>
              <a:rPr sz="1400" b="1">
                <a:latin typeface="Arial"/>
                <a:solidFill>
                  <a:srgbClr val="0E5B74"/>
                </a:solidFill>
              </a:rPr>
              <a:t xml:space="preserve">2. Understanding Meaning, Not Just Keywords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Each complaint and each civic category (e.g. pothole, garbage) is converted into a numeric ‘meaning’ representation.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A standard similarity technique checks how closely they match in meaning, not just in wording.</a:t>
            </a:r>
          </a:p>
          <a:p>
            <a:pPr algn="l">
              <a:spcAft>
                <a:spcPts val="600"/>
              </a:spcAft>
              <a:defRPr sz="1400" b="1">
                <a:latin typeface="Arial"/>
                <a:solidFill>
                  <a:srgbClr val="0E5B74"/>
                </a:solidFill>
              </a:defRPr>
            </a:pPr>
            <a:r>
              <a:rPr sz="1400" b="1">
                <a:latin typeface="Arial"/>
                <a:solidFill>
                  <a:srgbClr val="0E5B74"/>
                </a:solidFill>
              </a:rPr>
              <a:t xml:space="preserve">3. Scoring Confidence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Meaning-based similarity is combined with keyword and phrase matches into one confidence score, from 0 to 1.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Only categories that cross a minimum confidence level are shortlisted as candidates.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Project use:  </a:t>
            </a:r>
            <a:r>
              <a:rPr sz="1200" b="0">
                <a:latin typeface="Arial"/>
              </a:rPr>
              <a:t xml:space="preserve">combining meaning-based and keyword-based evidence lets the system classify complaints correctly, even when the wording differs from the training examples.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7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ALGORITHMS USED — MULTIMODAL FUSION &amp; CONFIDENCE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rmAutofit/>
          </a:bodyPr>
          <a:lstStyle/>
          <a:p>
            <a:pPr algn="l">
              <a:spcAft>
                <a:spcPts val="600"/>
              </a:spcAft>
              <a:defRPr sz="1400" b="1">
                <a:latin typeface="Arial"/>
                <a:solidFill>
                  <a:srgbClr val="0E5B74"/>
                </a:solidFill>
              </a:defRPr>
            </a:pPr>
            <a:r>
              <a:rPr sz="1400" b="1">
                <a:latin typeface="Arial"/>
                <a:solidFill>
                  <a:srgbClr val="0E5B74"/>
                </a:solidFill>
              </a:rPr>
              <a:t xml:space="preserve">1. Combining Text and Image Evidence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The system compares what the complaint text says with what Florence-2 detects in the photo.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If both point to the same category, confidence goes up; if they disagree, confidence goes down.</a:t>
            </a:r>
          </a:p>
          <a:p>
            <a:pPr algn="l">
              <a:spcAft>
                <a:spcPts val="600"/>
              </a:spcAft>
              <a:defRPr sz="1400" b="1">
                <a:latin typeface="Arial"/>
                <a:solidFill>
                  <a:srgbClr val="0E5B74"/>
                </a:solidFill>
              </a:defRPr>
            </a:pPr>
            <a:r>
              <a:rPr sz="1400" b="1">
                <a:latin typeface="Arial"/>
                <a:solidFill>
                  <a:srgbClr val="0E5B74"/>
                </a:solidFill>
              </a:rPr>
              <a:t xml:space="preserve">2. Adjusting Confidence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The confidence score is nudged up or down based on how well the text and image evidence agree, always staying between 0 and 1.</a:t>
            </a:r>
          </a:p>
          <a:p>
            <a:pPr algn="l">
              <a:spcAft>
                <a:spcPts val="600"/>
              </a:spcAft>
              <a:defRPr sz="1400" b="1">
                <a:latin typeface="Arial"/>
                <a:solidFill>
                  <a:srgbClr val="0E5B74"/>
                </a:solidFill>
              </a:defRPr>
            </a:pPr>
            <a:r>
              <a:rPr sz="1400" b="1">
                <a:latin typeface="Arial"/>
                <a:solidFill>
                  <a:srgbClr val="0E5B74"/>
                </a:solidFill>
              </a:rPr>
              <a:t xml:space="preserve">3. Human Review Gate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A report is sent for human review whenever evidence is incomplete, contradictory, or confidence is too low.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This keeps uncertain or conflicting cases from being auto-approved.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Project use:  </a:t>
            </a:r>
            <a:r>
              <a:rPr sz="1200" b="0">
                <a:latin typeface="Arial"/>
              </a:rPr>
              <a:t xml:space="preserve">this prevents low-quality or conflicting evidence from being forced into a confident civic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8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ALGORITHMS USED — SEVERITY, THREAT &amp; EVIDENCE SAFETY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rmAutofit/>
          </a:bodyPr>
          <a:lstStyle/>
          <a:p>
            <a:pPr algn="l">
              <a:spcAft>
                <a:spcPts val="600"/>
              </a:spcAft>
              <a:defRPr sz="1400" b="1">
                <a:latin typeface="Arial"/>
                <a:solidFill>
                  <a:srgbClr val="0E5B74"/>
                </a:solidFill>
              </a:defRPr>
            </a:pPr>
            <a:r>
              <a:rPr sz="1400" b="1">
                <a:latin typeface="Arial"/>
                <a:solidFill>
                  <a:srgbClr val="0E5B74"/>
                </a:solidFill>
              </a:rPr>
              <a:t xml:space="preserve">1. Estimating Severity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The complaint text is scanned for negative, positive, and critical/urgent words.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Based on how many critical or negative words appear, the case is graded High, Medium, or Low severity.</a:t>
            </a:r>
          </a:p>
          <a:p>
            <a:pPr algn="l">
              <a:spcAft>
                <a:spcPts val="600"/>
              </a:spcAft>
              <a:defRPr sz="1400" b="1">
                <a:latin typeface="Arial"/>
                <a:solidFill>
                  <a:srgbClr val="0E5B74"/>
                </a:solidFill>
              </a:defRPr>
            </a:pPr>
            <a:r>
              <a:rPr sz="1400" b="1">
                <a:latin typeface="Arial"/>
                <a:solidFill>
                  <a:srgbClr val="0E5B74"/>
                </a:solidFill>
              </a:rPr>
              <a:t xml:space="preserve">2. Checking Evidence Quality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Every uploaded image gets a unique digital fingerprint (SHA-256 hash) so it can be tracked and verified.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Brightness and contrast are checked to flag blurry, dark, or low-quality photos.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Poor-quality, contradictory, or unclear evidence automatically triggers a review-safe state.</a:t>
            </a:r>
          </a:p>
          <a:p>
            <a:pPr algn="l">
              <a:spcAft>
                <a:spcPts val="600"/>
              </a:spcAft>
              <a:defRPr sz="1400" b="1">
                <a:latin typeface="Arial"/>
                <a:solidFill>
                  <a:srgbClr val="0E5B74"/>
                </a:solidFill>
              </a:defRPr>
            </a:pPr>
            <a:r>
              <a:rPr sz="1400" b="1">
                <a:latin typeface="Arial"/>
                <a:solidFill>
                  <a:srgbClr val="0E5B74"/>
                </a:solidFill>
              </a:rPr>
              <a:t xml:space="preserve">3. Threat Assessment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Rule- and evidence-based safety checks flag potentially dangerous situations for priority handling.</a:t>
            </a:r>
          </a:p>
          <a:p>
            <a:pPr algn="l">
              <a:spcAft>
                <a:spcPts val="14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Project use:  </a:t>
            </a:r>
            <a:r>
              <a:rPr sz="1200" b="0">
                <a:latin typeface="Arial"/>
              </a:rPr>
              <a:t xml:space="preserve">severity and evidence-quality checks together decide how urgently a case is escalated and whether a human should review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9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10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85800" y="1874519"/>
          <a:ext cx="11237976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618"/>
                <a:gridCol w="5853112"/>
                <a:gridCol w="2341245"/>
              </a:tblGrid>
              <a:tr h="497840">
                <a:tc>
                  <a:txBody>
                    <a:bodyPr/>
                    <a:lstStyle/>
                    <a:p>
                      <a:pPr algn="ctr">
                        <a:defRPr sz="1040" b="1"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latin typeface="Arial"/>
                        </a:defRPr>
                      </a:pPr>
                      <a:r>
                        <a:t>Observed / Verified in Repository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Multimodal reporting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Arial"/>
                        </a:defRPr>
                      </a:pPr>
                      <a:r>
                        <a:t>Text, voice transcript, image and Bengaluru location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Implemented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Visual perception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Arial"/>
                        </a:defRPr>
                      </a:pPr>
                      <a:r>
                        <a:t>Florence-2 remote service with structured observations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Implemented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Semantic classification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Arial"/>
                        </a:defRPr>
                      </a:pPr>
                      <a:r>
                        <a:t>Sentence embeddings + cosine similarity + keyword evidence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Implemented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Confidence / review safety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Arial"/>
                        </a:defRPr>
                      </a:pPr>
                      <a:r>
                        <a:t>Conflict, uncertainty and evidence-quality gates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Implemented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Bengaluru routing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Arial"/>
                        </a:defRPr>
                      </a:pPr>
                      <a:r>
                        <a:t>Ward + category + severity + workload + versioned registry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Implemented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Community / incident intelligence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Arial"/>
                        </a:defRPr>
                      </a:pPr>
                      <a:r>
                        <a:t>Verification, duplicate clusters, alerts and incident commands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Implemented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Evaluation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Arial"/>
                        </a:defRPr>
                      </a:pPr>
                      <a:r>
                        <a:t>Dataset validation + benchmark-readiness + AI evaluation commands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Available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Numeric benchmark results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Arial"/>
                        </a:defRPr>
                      </a:pPr>
                      <a:r>
                        <a:t>Not published in current README/source snapshot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Not available</a:t>
                      </a:r>
                    </a:p>
                  </a:txBody>
                  <a:tcPr marL="32004" marR="32004" marT="22860" marB="2286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713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272" y="109728"/>
            <a:ext cx="713232" cy="621792"/>
          </a:xfrm>
          <a:prstGeom prst="roundRect">
            <a:avLst/>
          </a:prstGeom>
          <a:solidFill>
            <a:srgbClr val="15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COMPARISON OF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0F0F0F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11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85800" y="1874519"/>
          <a:ext cx="11237976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392"/>
                <a:gridCol w="2622194"/>
                <a:gridCol w="2622194"/>
                <a:gridCol w="2622194"/>
              </a:tblGrid>
              <a:tr h="497840">
                <a:tc>
                  <a:txBody>
                    <a:bodyPr/>
                    <a:lstStyle/>
                    <a:p>
                      <a:pPr algn="ctr">
                        <a:defRPr sz="1040" b="1"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latin typeface="Arial"/>
                        </a:defRPr>
                      </a:pPr>
                      <a:r>
                        <a:t>Urban Pulse AI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latin typeface="Arial"/>
                        </a:defRPr>
                      </a:pPr>
                      <a:r>
                        <a:t>Keyword-only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latin typeface="Arial"/>
                        </a:defRPr>
                      </a:pPr>
                      <a:r>
                        <a:t>Image-only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Text evidence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Image evidence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Multimodal fusion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Semantic similarity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Uncertainty / review gate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Model-dependent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Location-aware routing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Duplicate/community intelligence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32004" marR="32004" marT="22860" marB="2286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Arial"/>
                        </a:defRPr>
                      </a:pPr>
                      <a:r>
                        <a:t>Comparison type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Implemented system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Conceptual baseline</a:t>
                      </a:r>
                    </a:p>
                  </a:txBody>
                  <a:tcPr marL="32004" marR="32004" marT="22860" marB="2286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Conceptual baseline</a:t>
                      </a:r>
                    </a:p>
                  </a:txBody>
                  <a:tcPr marL="32004" marR="32004" marT="22860" marB="2286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CONCLUSION &amp; FUTURE STUDIES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rmAutofit/>
          </a:bodyPr>
          <a:lstStyle/>
          <a:p>
            <a:pPr algn="l">
              <a:spcAft>
                <a:spcPts val="800"/>
              </a:spcAft>
              <a:defRPr sz="1400" b="1">
                <a:latin typeface="Arial"/>
                <a:solidFill>
                  <a:srgbClr val="0E5B74"/>
                </a:solidFill>
              </a:defRPr>
            </a:pPr>
            <a:r>
              <a:rPr sz="1400" b="1">
                <a:latin typeface="Arial"/>
                <a:solidFill>
                  <a:srgbClr val="0E5B74"/>
                </a:solidFill>
              </a:rPr>
              <a:t xml:space="preserve">CONCLUSION</a:t>
            </a:r>
          </a:p>
          <a:p>
            <a:pPr algn="l">
              <a:spcAft>
                <a:spcPts val="1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Urban Pulse AI converts multimodal citizen evidence into structured civic decision support.</a:t>
            </a:r>
          </a:p>
          <a:p>
            <a:pPr algn="l">
              <a:spcAft>
                <a:spcPts val="1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Florence-2 provides visual observations while the Urban Pulse layer controls category, priority, threat, routing and review decisions.</a:t>
            </a:r>
          </a:p>
          <a:p>
            <a:pPr algn="l">
              <a:spcAft>
                <a:spcPts val="1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Semantic text classification, evidence fusion and safety gates improve robustness against weak or contradictory evidence.</a:t>
            </a:r>
          </a:p>
          <a:p>
            <a:pPr algn="l">
              <a:spcAft>
                <a:spcPts val="1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Bengaluru-specific routing, community verification, authority workflows and audit trails support accountable response.</a:t>
            </a:r>
          </a:p>
          <a:p>
            <a:pPr algn="l">
              <a:spcAft>
                <a:spcPts val="800"/>
              </a:spcAft>
              <a:defRPr sz="1400" b="1">
                <a:latin typeface="Arial"/>
                <a:solidFill>
                  <a:srgbClr val="0E5B74"/>
                </a:solidFill>
              </a:defRPr>
            </a:pPr>
            <a:r>
              <a:rPr sz="1400" b="1">
                <a:latin typeface="Arial"/>
                <a:solidFill>
                  <a:srgbClr val="0E5B74"/>
                </a:solidFill>
              </a:rPr>
              <a:t xml:space="preserve">FUTURE STUDIES</a:t>
            </a:r>
          </a:p>
          <a:p>
            <a:pPr algn="l">
              <a:spcAft>
                <a:spcPts val="1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Integrate authorized government APIs and official ward-boundary datasets.</a:t>
            </a:r>
          </a:p>
          <a:p>
            <a:pPr algn="l">
              <a:spcAft>
                <a:spcPts val="1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Add multilingual reporting and mobile push notifications.</a:t>
            </a:r>
          </a:p>
          <a:p>
            <a:pPr algn="l">
              <a:spcAft>
                <a:spcPts val="1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Expand field-officer workflows with signed resolution evidence.</a:t>
            </a:r>
          </a:p>
          <a:p>
            <a:pPr algn="l">
              <a:spcAft>
                <a:spcPts val="1200"/>
              </a:spcAft>
              <a:defRPr sz="1200" b="0">
                <a:latin typeface="Arial"/>
              </a:defRPr>
            </a:pPr>
            <a:r>
              <a:rPr sz="1200" b="0">
                <a:latin typeface="Arial"/>
              </a:rPr>
              <a:t xml:space="preserve">•  Strengthen benchmark coverage, calibration and production HTTPS/security.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12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  <p:pic>
        <p:nvPicPr>
          <p:cNvPr id="31" name="Picture 30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713232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11338560" cy="530352"/>
          </a:xfrm>
          <a:prstGeom prst="roundRect">
            <a:avLst/>
          </a:prstGeom>
          <a:solidFill>
            <a:srgbClr val="152935"/>
          </a:solidFill>
          <a:ln>
            <a:solidFill>
              <a:srgbClr val="152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938606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rmAutofit/>
          </a:bodyPr>
          <a:lstStyle/>
          <a:p>
            <a:pPr algn="l">
              <a:spcAft>
                <a:spcPts val="16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[1] </a:t>
            </a:r>
            <a:r>
              <a:rPr sz="1200" b="0">
                <a:latin typeface="Arial"/>
              </a:rPr>
              <a:t xml:space="preserve">B. Xiao, H. Wu, W. Xu, X. Dai, H. Hu, Y. Lu, M. Zeng, C. Liu, and L. Yuan, </a:t>
            </a:r>
            <a:r>
              <a:rPr sz="1200" b="0">
                <a:latin typeface="Arial"/>
              </a:rPr>
              <a:t xml:space="preserve">“Florence-2: Advancing a unified representation for a variety of vision tasks,” </a:t>
            </a:r>
            <a:r>
              <a:rPr sz="1200" b="0" i="1">
                <a:latin typeface="Arial"/>
              </a:rPr>
              <a:t xml:space="preserve">in Proc. IEEE/CVF Conf. Comput. Vis. Pattern Recognit. (CVPR)</a:t>
            </a:r>
            <a:r>
              <a:rPr sz="1200" b="0">
                <a:latin typeface="Arial"/>
              </a:rPr>
              <a:t xml:space="preserve">, 2024, pp. 4818–4829.</a:t>
            </a:r>
          </a:p>
          <a:p>
            <a:pPr algn="l">
              <a:spcAft>
                <a:spcPts val="16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[2] </a:t>
            </a:r>
            <a:r>
              <a:rPr sz="1200" b="0">
                <a:latin typeface="Arial"/>
              </a:rPr>
              <a:t xml:space="preserve">N. Reimers and I. Gurevych, </a:t>
            </a:r>
            <a:r>
              <a:rPr sz="1200" b="0">
                <a:latin typeface="Arial"/>
              </a:rPr>
              <a:t xml:space="preserve">“Sentence-BERT: Sentence embeddings using Siamese BERT-networks,” </a:t>
            </a:r>
            <a:r>
              <a:rPr sz="1200" b="0" i="1">
                <a:latin typeface="Arial"/>
              </a:rPr>
              <a:t xml:space="preserve">in Proc. Conf. Empirical Methods Natural Lang. Process. (EMNLP-IJCNLP)</a:t>
            </a:r>
            <a:r>
              <a:rPr sz="1200" b="0">
                <a:latin typeface="Arial"/>
              </a:rPr>
              <a:t xml:space="preserve">, 2019, pp. 3982–3992.</a:t>
            </a:r>
          </a:p>
          <a:p>
            <a:pPr algn="l">
              <a:spcAft>
                <a:spcPts val="16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[3] </a:t>
            </a:r>
            <a:r>
              <a:rPr sz="1200" b="0">
                <a:latin typeface="Arial"/>
              </a:rPr>
              <a:t xml:space="preserve">B. Zhou, H. Yang, D. Chen, J. Ye, T. Bai, J. Yu, S. Zhang, D. Lin, C. He, and W. Li, </a:t>
            </a:r>
            <a:r>
              <a:rPr sz="1200" b="0">
                <a:latin typeface="Arial"/>
              </a:rPr>
              <a:t xml:space="preserve">“UrBench: A comprehensive benchmark for evaluating large multimodal models in multi-view urban scenarios,” </a:t>
            </a:r>
            <a:r>
              <a:rPr sz="1200" b="0" i="1">
                <a:latin typeface="Arial"/>
              </a:rPr>
              <a:t xml:space="preserve">in Proc. AAAI Conf. Artif. Intell.</a:t>
            </a:r>
            <a:r>
              <a:rPr sz="1200" b="0">
                <a:latin typeface="Arial"/>
              </a:rPr>
              <a:t xml:space="preserve">, 2025, pp. 10707–10715.</a:t>
            </a:r>
          </a:p>
          <a:p>
            <a:pPr algn="l">
              <a:spcAft>
                <a:spcPts val="16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[4] </a:t>
            </a:r>
            <a:r>
              <a:rPr sz="1200" b="0">
                <a:latin typeface="Arial"/>
              </a:rPr>
              <a:t xml:space="preserve">S. C. Suganthi, A. S., D. V., and J. M., </a:t>
            </a:r>
            <a:r>
              <a:rPr sz="1200" b="0">
                <a:latin typeface="Arial"/>
              </a:rPr>
              <a:t xml:space="preserve">“AI based smart civic complaint management system,” </a:t>
            </a:r>
            <a:r>
              <a:rPr sz="1200" b="0" i="1">
                <a:latin typeface="Arial"/>
              </a:rPr>
              <a:t xml:space="preserve">Int. J. Eng. Emerg. Technol. Res. (IJEETR)</a:t>
            </a:r>
            <a:r>
              <a:rPr sz="1200" b="0">
                <a:latin typeface="Arial"/>
              </a:rPr>
              <a:t xml:space="preserve">, 2026.</a:t>
            </a:r>
          </a:p>
          <a:p>
            <a:pPr algn="l">
              <a:spcAft>
                <a:spcPts val="16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[5] </a:t>
            </a:r>
            <a:r>
              <a:rPr sz="1200" b="0">
                <a:latin typeface="Arial"/>
              </a:rPr>
              <a:t xml:space="preserve">A. Radford et al., </a:t>
            </a:r>
            <a:r>
              <a:rPr sz="1200" b="0">
                <a:latin typeface="Arial"/>
              </a:rPr>
              <a:t xml:space="preserve">“Robust speech recognition via large-scale weak supervision,” </a:t>
            </a:r>
            <a:r>
              <a:rPr sz="1200" b="0" i="1">
                <a:latin typeface="Arial"/>
              </a:rPr>
              <a:t xml:space="preserve">in Proc. Int. Conf. Mach. Learn. (ICML)</a:t>
            </a:r>
            <a:r>
              <a:rPr sz="1200" b="0">
                <a:latin typeface="Arial"/>
              </a:rPr>
              <a:t xml:space="preserve">, 2023.</a:t>
            </a:r>
          </a:p>
          <a:p>
            <a:pPr algn="l">
              <a:spcAft>
                <a:spcPts val="1600"/>
              </a:spcAft>
              <a:defRPr sz="1200" b="0">
                <a:latin typeface="Arial"/>
              </a:defRPr>
            </a:pPr>
            <a:r>
              <a:rPr sz="1200" b="1">
                <a:latin typeface="Arial"/>
              </a:rPr>
              <a:t xml:space="preserve">[6] </a:t>
            </a:r>
            <a:r>
              <a:rPr sz="1200" b="0">
                <a:latin typeface="Arial"/>
              </a:rPr>
              <a:t xml:space="preserve">Shreyas0047, </a:t>
            </a:r>
            <a:r>
              <a:rPr sz="1200" b="0">
                <a:latin typeface="Arial"/>
              </a:rPr>
              <a:t xml:space="preserve">“Urban Pulse AI,” </a:t>
            </a:r>
            <a:r>
              <a:rPr sz="1200" b="0" i="1">
                <a:latin typeface="Arial"/>
              </a:rPr>
              <a:t xml:space="preserve">GitHub repository</a:t>
            </a:r>
            <a:r>
              <a:rPr sz="1200" b="0">
                <a:latin typeface="Arial"/>
              </a:rPr>
              <a:t xml:space="preserve">, current implementation and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327648"/>
            <a:ext cx="822960" cy="256032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latin typeface="Arial"/>
              </a:defRPr>
            </a:pPr>
            <a:r>
              <a:t>13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396798-8BED-EAF2-E5BA-3B5F20243F17}"/>
              </a:ext>
            </a:extLst>
          </p:cNvPr>
          <p:cNvGrpSpPr/>
          <p:nvPr/>
        </p:nvGrpSpPr>
        <p:grpSpPr>
          <a:xfrm>
            <a:off x="0" y="-45807"/>
            <a:ext cx="12192000" cy="936343"/>
            <a:chOff x="-19686" y="-9179"/>
            <a:chExt cx="9163685" cy="9978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278906-13E7-EF03-50C5-D7BA09C952E1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B66910A1-6613-88A2-3147-D6EDDC13AF9A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8" name="object 7">
                <a:extLst>
                  <a:ext uri="{FF2B5EF4-FFF2-40B4-BE49-F238E27FC236}">
                    <a16:creationId xmlns:a16="http://schemas.microsoft.com/office/drawing/2014/main" id="{8A6E338E-CB80-30F2-5738-B23EF865477C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29" name="object 8">
                  <a:extLst>
                    <a:ext uri="{FF2B5EF4-FFF2-40B4-BE49-F238E27FC236}">
                      <a16:creationId xmlns:a16="http://schemas.microsoft.com/office/drawing/2014/main" id="{8936F328-4204-5D21-270B-175DF7FD4A54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30" name="object 9">
                  <a:extLst>
                    <a:ext uri="{FF2B5EF4-FFF2-40B4-BE49-F238E27FC236}">
                      <a16:creationId xmlns:a16="http://schemas.microsoft.com/office/drawing/2014/main" id="{8B1CCCFE-D6C1-9FD0-C96B-72CC8491F124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6B2A2-EE84-51CC-E331-4095716DD428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  <p:pic>
        <p:nvPicPr>
          <p:cNvPr id="32" name="Picture 3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713232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5B74"/>
          </a:solidFill>
          <a:ln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32345" y="36576"/>
            <a:ext cx="4051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9790" y="329184"/>
            <a:ext cx="42162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</p:txBody>
      </p:sp>
      <p:grpSp>
        <p:nvGrpSpPr>
          <p:cNvPr id="16" name="object 3">
            <a:extLst>
              <a:ext uri="{FF2B5EF4-FFF2-40B4-BE49-F238E27FC236}">
                <a16:creationId xmlns:a16="http://schemas.microsoft.com/office/drawing/2014/main" id="{8AAE92C6-B286-BA7C-D7CA-E8EFD6EE8ECF}"/>
              </a:ext>
            </a:extLst>
          </p:cNvPr>
          <p:cNvGrpSpPr/>
          <p:nvPr/>
        </p:nvGrpSpPr>
        <p:grpSpPr>
          <a:xfrm>
            <a:off x="0" y="-16955"/>
            <a:ext cx="12192000" cy="939165"/>
            <a:chOff x="63738" y="50"/>
            <a:chExt cx="9017000" cy="939165"/>
          </a:xfrm>
        </p:grpSpPr>
        <p:pic>
          <p:nvPicPr>
            <p:cNvPr id="17" name="object 4">
              <a:extLst>
                <a:ext uri="{FF2B5EF4-FFF2-40B4-BE49-F238E27FC236}">
                  <a16:creationId xmlns:a16="http://schemas.microsoft.com/office/drawing/2014/main" id="{40A948C9-6201-7E2D-60B2-C9508BA151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2485" y="115595"/>
              <a:ext cx="1127759" cy="791946"/>
            </a:xfrm>
            <a:prstGeom prst="rect">
              <a:avLst/>
            </a:prstGeom>
          </p:spPr>
        </p:pic>
        <p:pic>
          <p:nvPicPr>
            <p:cNvPr id="18" name="object 5">
              <a:extLst>
                <a:ext uri="{FF2B5EF4-FFF2-40B4-BE49-F238E27FC236}">
                  <a16:creationId xmlns:a16="http://schemas.microsoft.com/office/drawing/2014/main" id="{8C68408B-120B-F234-2924-DCE32ECECD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38" y="50"/>
              <a:ext cx="872490" cy="938606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23C3BE0-81ED-C03A-B237-CE405FBAC33E}"/>
              </a:ext>
            </a:extLst>
          </p:cNvPr>
          <p:cNvGrpSpPr/>
          <p:nvPr/>
        </p:nvGrpSpPr>
        <p:grpSpPr>
          <a:xfrm>
            <a:off x="0" y="-45807"/>
            <a:ext cx="12192000" cy="997882"/>
            <a:chOff x="-19686" y="-9179"/>
            <a:chExt cx="9163685" cy="99788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871553A-1AD2-2A08-ECAF-5BA530C0691E}"/>
                </a:ext>
              </a:extLst>
            </p:cNvPr>
            <p:cNvGrpSpPr/>
            <p:nvPr/>
          </p:nvGrpSpPr>
          <p:grpSpPr>
            <a:xfrm>
              <a:off x="-19686" y="-9179"/>
              <a:ext cx="9163685" cy="997882"/>
              <a:chOff x="-19139" y="-5324694"/>
              <a:chExt cx="9163685" cy="997882"/>
            </a:xfrm>
          </p:grpSpPr>
          <p:sp>
            <p:nvSpPr>
              <p:cNvPr id="53" name="object 3">
                <a:extLst>
                  <a:ext uri="{FF2B5EF4-FFF2-40B4-BE49-F238E27FC236}">
                    <a16:creationId xmlns:a16="http://schemas.microsoft.com/office/drawing/2014/main" id="{9F530634-2B7C-6F72-E673-440CC5A70C2F}"/>
                  </a:ext>
                </a:extLst>
              </p:cNvPr>
              <p:cNvSpPr/>
              <p:nvPr/>
            </p:nvSpPr>
            <p:spPr>
              <a:xfrm>
                <a:off x="-19139" y="-5324694"/>
                <a:ext cx="9163685" cy="997882"/>
              </a:xfrm>
              <a:custGeom>
                <a:avLst/>
                <a:gdLst/>
                <a:ahLst/>
                <a:cxnLst/>
                <a:rect l="l" t="t" r="r" b="b"/>
                <a:pathLst>
                  <a:path w="9123680" h="923925">
                    <a:moveTo>
                      <a:pt x="9123311" y="0"/>
                    </a:moveTo>
                    <a:lnTo>
                      <a:pt x="0" y="0"/>
                    </a:lnTo>
                    <a:lnTo>
                      <a:pt x="0" y="923328"/>
                    </a:lnTo>
                    <a:lnTo>
                      <a:pt x="9123311" y="923328"/>
                    </a:lnTo>
                    <a:lnTo>
                      <a:pt x="9123311" y="0"/>
                    </a:lnTo>
                    <a:close/>
                  </a:path>
                </a:pathLst>
              </a:custGeom>
              <a:solidFill>
                <a:srgbClr val="0D567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54" name="object 7">
                <a:extLst>
                  <a:ext uri="{FF2B5EF4-FFF2-40B4-BE49-F238E27FC236}">
                    <a16:creationId xmlns:a16="http://schemas.microsoft.com/office/drawing/2014/main" id="{A2E60B1B-9EF1-878F-B699-FF01E51E9571}"/>
                  </a:ext>
                </a:extLst>
              </p:cNvPr>
              <p:cNvGrpSpPr/>
              <p:nvPr/>
            </p:nvGrpSpPr>
            <p:grpSpPr>
              <a:xfrm>
                <a:off x="38518" y="-5288295"/>
                <a:ext cx="8983969" cy="923328"/>
                <a:chOff x="38518" y="-5288295"/>
                <a:chExt cx="8983969" cy="923328"/>
              </a:xfrm>
            </p:grpSpPr>
            <p:pic>
              <p:nvPicPr>
                <p:cNvPr id="55" name="object 8">
                  <a:extLst>
                    <a:ext uri="{FF2B5EF4-FFF2-40B4-BE49-F238E27FC236}">
                      <a16:creationId xmlns:a16="http://schemas.microsoft.com/office/drawing/2014/main" id="{4A8FE1D6-C0DC-987B-3B2B-03C4201CC696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894728" y="-5222604"/>
                  <a:ext cx="1127759" cy="791946"/>
                </a:xfrm>
                <a:prstGeom prst="rect">
                  <a:avLst/>
                </a:prstGeom>
              </p:spPr>
            </p:pic>
            <p:pic>
              <p:nvPicPr>
                <p:cNvPr id="56" name="object 9">
                  <a:extLst>
                    <a:ext uri="{FF2B5EF4-FFF2-40B4-BE49-F238E27FC236}">
                      <a16:creationId xmlns:a16="http://schemas.microsoft.com/office/drawing/2014/main" id="{E77951EC-95A4-6201-858C-67A031BCFA6A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38518" y="-5288295"/>
                  <a:ext cx="1136027" cy="923328"/>
                </a:xfrm>
                <a:prstGeom prst="rect">
                  <a:avLst/>
                </a:prstGeom>
              </p:spPr>
            </p:pic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FA88732-DA87-6791-2A8A-59C622802C2C}"/>
                </a:ext>
              </a:extLst>
            </p:cNvPr>
            <p:cNvSpPr txBox="1"/>
            <p:nvPr/>
          </p:nvSpPr>
          <p:spPr>
            <a:xfrm>
              <a:off x="1872843" y="24906"/>
              <a:ext cx="5398314" cy="889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445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AMC</a:t>
              </a:r>
              <a:r>
                <a:rPr lang="en-US" sz="1800" b="1" spc="-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COLLEGE</a:t>
              </a:r>
              <a:endParaRPr lang="en-US"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1925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Department</a:t>
              </a:r>
              <a:r>
                <a:rPr lang="en-US" sz="1800" b="1" spc="-5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</a:t>
              </a:r>
              <a:r>
                <a:rPr lang="en-US" sz="1800" b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Information</a:t>
              </a:r>
              <a:r>
                <a:rPr lang="en-US" sz="1800" b="1"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Science</a:t>
              </a:r>
              <a:r>
                <a:rPr lang="en-US" sz="1800" b="1" spc="4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 </a:t>
              </a:r>
              <a:r>
                <a:rPr lang="en-US" sz="1800" b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 xml:space="preserve">and </a:t>
              </a:r>
              <a:r>
                <a:rPr lang="en-US" sz="180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Engineering</a:t>
              </a:r>
              <a:endParaRPr lang="en-US" sz="1800" dirty="0">
                <a:latin typeface="Times New Roman"/>
                <a:cs typeface="Times New Roman"/>
              </a:endParaRP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48BD773D-A9FB-A338-5560-3747FE038DED}"/>
              </a:ext>
            </a:extLst>
          </p:cNvPr>
          <p:cNvSpPr/>
          <p:nvPr/>
        </p:nvSpPr>
        <p:spPr>
          <a:xfrm>
            <a:off x="192023" y="1090130"/>
            <a:ext cx="11731752" cy="5669280"/>
          </a:xfrm>
          <a:prstGeom prst="rect">
            <a:avLst/>
          </a:prstGeom>
          <a:noFill/>
          <a:ln w="16510">
            <a:solidFill>
              <a:srgbClr val="0E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ounded Rectangle 11">
            <a:extLst>
              <a:ext uri="{FF2B5EF4-FFF2-40B4-BE49-F238E27FC236}">
                <a16:creationId xmlns:a16="http://schemas.microsoft.com/office/drawing/2014/main" id="{85C718D2-863F-63FC-5D37-559D10620A1F}"/>
              </a:ext>
            </a:extLst>
          </p:cNvPr>
          <p:cNvSpPr/>
          <p:nvPr/>
        </p:nvSpPr>
        <p:spPr>
          <a:xfrm>
            <a:off x="832435" y="1338331"/>
            <a:ext cx="10725912" cy="2151755"/>
          </a:xfrm>
          <a:prstGeom prst="roundRect">
            <a:avLst/>
          </a:prstGeom>
          <a:solidFill>
            <a:srgbClr val="F4F7F9"/>
          </a:solidFill>
          <a:ln>
            <a:solidFill>
              <a:srgbClr val="23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ounded Rectangle 6"/>
          <p:cNvSpPr/>
          <p:nvPr/>
        </p:nvSpPr>
        <p:spPr>
          <a:xfrm>
            <a:off x="388619" y="1451892"/>
            <a:ext cx="11338560" cy="1935149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ounded Rectangle 11">
            <a:extLst>
              <a:ext uri="{FF2B5EF4-FFF2-40B4-BE49-F238E27FC236}">
                <a16:creationId xmlns:a16="http://schemas.microsoft.com/office/drawing/2014/main" id="{C6893882-C310-440B-6C2D-7923BF568B31}"/>
              </a:ext>
            </a:extLst>
          </p:cNvPr>
          <p:cNvSpPr/>
          <p:nvPr/>
        </p:nvSpPr>
        <p:spPr>
          <a:xfrm>
            <a:off x="832435" y="3841965"/>
            <a:ext cx="5983536" cy="2151755"/>
          </a:xfrm>
          <a:prstGeom prst="roundRect">
            <a:avLst/>
          </a:prstGeom>
          <a:solidFill>
            <a:srgbClr val="F4F7F9"/>
          </a:solidFill>
          <a:ln>
            <a:solidFill>
              <a:srgbClr val="23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2E99CE2F-B7CC-1E5C-DFFE-0B5DE998B2B9}"/>
              </a:ext>
            </a:extLst>
          </p:cNvPr>
          <p:cNvSpPr txBox="1"/>
          <p:nvPr/>
        </p:nvSpPr>
        <p:spPr>
          <a:xfrm>
            <a:off x="950407" y="3945011"/>
            <a:ext cx="6163876" cy="1897955"/>
          </a:xfrm>
          <a:prstGeom prst="rect">
            <a:avLst/>
          </a:prstGeom>
        </p:spPr>
        <p:txBody>
          <a:bodyPr vert="horz" wrap="square" lIns="109728" tIns="73152" rIns="109728" bIns="73152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defRPr sz="2000" b="1">
                <a:latin typeface="Arial"/>
              </a:defRPr>
            </a:pPr>
            <a:r>
              <a:t>QUESTIONS &amp; ANSWERS</a:t>
            </a:r>
          </a:p>
        </p:txBody>
      </p:sp>
      <p:sp>
        <p:nvSpPr>
          <p:cNvPr id="63" name="Rounded Rectangle 11">
            <a:extLst>
              <a:ext uri="{FF2B5EF4-FFF2-40B4-BE49-F238E27FC236}">
                <a16:creationId xmlns:a16="http://schemas.microsoft.com/office/drawing/2014/main" id="{F125B316-25B7-7F10-8409-B04D7D024769}"/>
              </a:ext>
            </a:extLst>
          </p:cNvPr>
          <p:cNvSpPr/>
          <p:nvPr/>
        </p:nvSpPr>
        <p:spPr>
          <a:xfrm>
            <a:off x="6933942" y="3841966"/>
            <a:ext cx="4658389" cy="2151755"/>
          </a:xfrm>
          <a:prstGeom prst="roundRect">
            <a:avLst/>
          </a:prstGeom>
          <a:solidFill>
            <a:srgbClr val="F4F7F9"/>
          </a:solidFill>
          <a:ln>
            <a:solidFill>
              <a:srgbClr val="23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A439C024-0303-4689-656A-C376FEFDB5F4}"/>
              </a:ext>
            </a:extLst>
          </p:cNvPr>
          <p:cNvSpPr txBox="1"/>
          <p:nvPr/>
        </p:nvSpPr>
        <p:spPr>
          <a:xfrm>
            <a:off x="8224784" y="4123706"/>
            <a:ext cx="2076703" cy="1282402"/>
          </a:xfrm>
          <a:prstGeom prst="rect">
            <a:avLst/>
          </a:prstGeom>
        </p:spPr>
        <p:txBody>
          <a:bodyPr vert="horz" wrap="square" lIns="109728" tIns="73152" rIns="109728" bIns="73152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defRPr sz="1600" b="0">
                <a:latin typeface="Arial"/>
              </a:defRPr>
            </a:pPr>
            <a:r>
              <a:t>Urban Pulse AI</a:t>
            </a:r>
            <a:endParaRPr lang="en-US" sz="2000" b="1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600" b="0">
                <a:latin typeface="Arial"/>
              </a:defRPr>
            </a:pPr>
            <a:r>
              <a:t>Major Project Review</a:t>
            </a:r>
          </a:p>
        </p:txBody>
      </p:sp>
      <p:pic>
        <p:nvPicPr>
          <p:cNvPr id="64" name="Picture 6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713232" cy="621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1199</Words>
  <Application>Microsoft Office PowerPoint</Application>
  <PresentationFormat>Widescreen</PresentationFormat>
  <Paragraphs>206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Raghavendra. rrs</dc:creator>
  <cp:keywords/>
  <dc:description>generated using python-pptx</dc:description>
  <cp:lastModifiedBy>Raghavendra. rrs</cp:lastModifiedBy>
  <cp:revision>4</cp:revision>
  <dcterms:created xsi:type="dcterms:W3CDTF">2013-01-27T09:14:16Z</dcterms:created>
  <dcterms:modified xsi:type="dcterms:W3CDTF">2026-04-08T06:34:19Z</dcterms:modified>
  <cp:category/>
</cp:coreProperties>
</file>